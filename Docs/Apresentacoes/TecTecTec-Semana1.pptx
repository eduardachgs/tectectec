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a94e541-9ccb-1d8f-5751-e740ee11cee4}">
          <p14:sldIdLst>
            <p14:sldId id="256"/>
          </p14:sldIdLst>
        </p14:section>
        <p14:section name="Jogo" id="{91392028-f129-5a1d-d307-22eb46e2be06}">
          <p14:sldIdLst>
            <p14:sldId id="257"/>
            <p14:sldId id="258"/>
            <p14:sldId id="259"/>
            <p14:sldId id="260"/>
          </p14:sldIdLst>
        </p14:section>
        <p14:section name="Planejamento" id="{877e1498-786e-7f95-82fc-753cb6ee0383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Mote visual: o teorema do macaco infinito. Um macaco digitando ao acaso por tempo infinito acabaria escrevendo qualquer texto; no nosso jogo, o jogador tem que digitar certo e rápido. Primeira semana: alinhar regras, modos, bônus, pontuação 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 do jogo, como no ZType: palavras surgem no topo, avançam, o jogador digita e destrói. A dificuldade cresce com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Mecânica de defesa: projéteis são letras ou sequências curtas. Digitar destrói o projétil antes do impacto. A tela à esquerda é só um rascunho visual; o jogador aparece como o macaco mascote.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complete com TAB foi ideia do Lucas. Bônus negativos ainda precisam ser definidos; os exemplos são só sugestões.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Sobrevivência: barra de vida em corações e níveis de dificuldade que combinam velocidade, presença de projéteis e de bônus. Zen: sem game over, o modo que mais conversa com o macaco infinito.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nos cards são exemplos. Precisamos decidir quais métricas aparecem na tela de resultado e como a pontuação é calculada.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desejáveis, fora do escopo mínimo. A pergunta sobre feedback visual vale discutir já, porque afeta a identidade do jogo (ex.: o macaco batendo nas teclas a cada letra?).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sugerida apenas como ponto de partida. A checklist reproduz as entregas de planejamento da semana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cote: macaco em pixel 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47472"/>
            <a:ext cx="594360" cy="41605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TECTECTEC · SEMANA 1 — PLANEJAMENTO E 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TEOREMA DO MACACO INFINITO</a:t>
            </a:r>
            <a:endParaRPr lang="en-US" sz="1200" dirty="0"/>
          </a:p>
        </p:txBody>
      </p:sp>
      <p:pic>
        <p:nvPicPr>
          <p:cNvPr id="3" name="Título" descr="TecTecT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320540" cy="548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4572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Jogo web de digitação inspirado em ZType</a:t>
            </a:r>
            <a:endParaRPr lang="en-US" sz="1800" dirty="0"/>
          </a:p>
        </p:txBody>
      </p:sp>
      <p:sp>
        <p:nvSpPr>
          <p:cNvPr id="5" name="Citação"/>
          <p:cNvSpPr/>
          <p:nvPr/>
        </p:nvSpPr>
        <p:spPr>
          <a:xfrm>
            <a:off x="457200" y="2514600"/>
            <a:ext cx="4526280" cy="10972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6" name="Citação texto"/>
          <p:cNvSpPr txBox="1"/>
          <p:nvPr/>
        </p:nvSpPr>
        <p:spPr>
          <a:xfrm>
            <a:off x="640080" y="26060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macaco digitando ao acaso, para sempre, um dia escreve qualquer texto. Aqui, você precisa ser mais rápido que ele.</a:t>
            </a:r>
            <a:endParaRPr lang="en-US" sz="13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45720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Semana 1 · Planejamento e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Esqueleto das funcionalidades</a:t>
            </a:r>
            <a:endParaRPr lang="en-US" sz="1400" dirty="0"/>
          </a:p>
        </p:txBody>
      </p:sp>
      <p:pic>
        <p:nvPicPr>
          <p:cNvPr id="8" name="Macaco na máquina de escrever" descr="Macaco em pixel art digitando numa máquina de escre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85800"/>
            <a:ext cx="3291840" cy="3017520"/>
          </a:xfrm>
          <a:prstGeom prst="rect">
            <a:avLst/>
          </a:prstGeom>
        </p:spPr>
      </p:pic>
      <p:sp>
        <p:nvSpPr>
          <p:cNvPr id="9" name="Saída da máquina"/>
          <p:cNvSpPr/>
          <p:nvPr/>
        </p:nvSpPr>
        <p:spPr>
          <a:xfrm>
            <a:off x="5394960" y="3977640"/>
            <a:ext cx="3291840" cy="5029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0" name="Saída texto"/>
          <p:cNvSpPr txBox="1"/>
          <p:nvPr/>
        </p:nvSpPr>
        <p:spPr>
          <a:xfrm>
            <a:off x="539496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qz#k tec?! </a:t>
            </a:r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TECTECTEC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Loop princip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059936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Digite a palavra antes que ela chegue até você</a:t>
            </a:r>
            <a:endParaRPr lang="en-US" sz="1600" dirty="0"/>
          </a:p>
        </p:txBody>
      </p:sp>
      <p:sp>
        <p:nvSpPr>
          <p:cNvPr id="4" name="Etapa 01"/>
          <p:cNvSpPr/>
          <p:nvPr/>
        </p:nvSpPr>
        <p:spPr>
          <a:xfrm>
            <a:off x="457200" y="1554480"/>
            <a:ext cx="1828800" cy="2057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5" name="Etapa 01 bloco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6" name="Etapa 01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1869034"/>
            <a:ext cx="285293" cy="285293"/>
          </a:xfrm>
          <a:prstGeom prst="rect">
            <a:avLst/>
          </a:prstGeom>
        </p:spPr>
      </p:pic>
      <p:pic>
        <p:nvPicPr>
          <p:cNvPr id="7" name="Etapa 01 número" descr="0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56232"/>
            <a:ext cx="512064" cy="292608"/>
          </a:xfrm>
          <a:prstGeom prst="rect">
            <a:avLst/>
          </a:prstGeom>
        </p:spPr>
      </p:pic>
      <p:sp>
        <p:nvSpPr>
          <p:cNvPr id="8" name="Etapa 01 título"/>
          <p:cNvSpPr txBox="1"/>
          <p:nvPr/>
        </p:nvSpPr>
        <p:spPr>
          <a:xfrm>
            <a:off x="640080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Surgem</a:t>
            </a:r>
            <a:endParaRPr lang="en-US" sz="1600" dirty="0"/>
          </a:p>
        </p:txBody>
      </p:sp>
      <p:sp>
        <p:nvSpPr>
          <p:cNvPr id="9" name="Etapa 01 descrição"/>
          <p:cNvSpPr txBox="1"/>
          <p:nvPr/>
        </p:nvSpPr>
        <p:spPr>
          <a:xfrm>
            <a:off x="640080" y="279806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Novas palavras aparecem no topo da tela</a:t>
            </a:r>
            <a:endParaRPr lang="en-US" sz="1400" dirty="0"/>
          </a:p>
        </p:txBody>
      </p:sp>
      <p:pic>
        <p:nvPicPr>
          <p:cNvPr id="10" name="Seta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2468880"/>
            <a:ext cx="91440" cy="160020"/>
          </a:xfrm>
          <a:prstGeom prst="rect">
            <a:avLst/>
          </a:prstGeom>
        </p:spPr>
      </p:pic>
      <p:sp>
        <p:nvSpPr>
          <p:cNvPr id="11" name="Etapa 02"/>
          <p:cNvSpPr/>
          <p:nvPr/>
        </p:nvSpPr>
        <p:spPr>
          <a:xfrm>
            <a:off x="2590495" y="1554480"/>
            <a:ext cx="1828800" cy="2057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2" name="Etapa 02 bloco"/>
          <p:cNvSpPr/>
          <p:nvPr/>
        </p:nvSpPr>
        <p:spPr>
          <a:xfrm>
            <a:off x="2773375" y="1737360"/>
            <a:ext cx="548640" cy="5486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13" name="Etapa 02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049" y="1869034"/>
            <a:ext cx="285293" cy="285293"/>
          </a:xfrm>
          <a:prstGeom prst="rect">
            <a:avLst/>
          </a:prstGeom>
        </p:spPr>
      </p:pic>
      <p:pic>
        <p:nvPicPr>
          <p:cNvPr id="14" name="Etapa 02 número" descr="0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495" y="1856232"/>
            <a:ext cx="512064" cy="292608"/>
          </a:xfrm>
          <a:prstGeom prst="rect">
            <a:avLst/>
          </a:prstGeom>
        </p:spPr>
      </p:pic>
      <p:sp>
        <p:nvSpPr>
          <p:cNvPr id="15" name="Etapa 02 título"/>
          <p:cNvSpPr txBox="1"/>
          <p:nvPr/>
        </p:nvSpPr>
        <p:spPr>
          <a:xfrm>
            <a:off x="2773375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Avançam</a:t>
            </a:r>
            <a:endParaRPr lang="en-US" sz="1600" dirty="0"/>
          </a:p>
        </p:txBody>
      </p:sp>
      <p:sp>
        <p:nvSpPr>
          <p:cNvPr id="16" name="Etapa 02 descrição"/>
          <p:cNvSpPr txBox="1"/>
          <p:nvPr/>
        </p:nvSpPr>
        <p:spPr>
          <a:xfrm>
            <a:off x="2773375" y="279806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Descem em direção ao jogador</a:t>
            </a:r>
            <a:endParaRPr lang="en-US" sz="1400" dirty="0"/>
          </a:p>
        </p:txBody>
      </p:sp>
      <p:pic>
        <p:nvPicPr>
          <p:cNvPr id="17" name="Seta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9023" y="2468880"/>
            <a:ext cx="91440" cy="160020"/>
          </a:xfrm>
          <a:prstGeom prst="rect">
            <a:avLst/>
          </a:prstGeom>
        </p:spPr>
      </p:pic>
      <p:sp>
        <p:nvSpPr>
          <p:cNvPr id="18" name="Etapa 03"/>
          <p:cNvSpPr/>
          <p:nvPr/>
        </p:nvSpPr>
        <p:spPr>
          <a:xfrm>
            <a:off x="4723790" y="1554480"/>
            <a:ext cx="1828800" cy="2057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9" name="Etapa 03 bloco"/>
          <p:cNvSpPr/>
          <p:nvPr/>
        </p:nvSpPr>
        <p:spPr>
          <a:xfrm>
            <a:off x="4906670" y="1737360"/>
            <a:ext cx="548640" cy="54864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20" name="Etapa 03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1869034"/>
            <a:ext cx="285293" cy="285293"/>
          </a:xfrm>
          <a:prstGeom prst="rect">
            <a:avLst/>
          </a:prstGeom>
        </p:spPr>
      </p:pic>
      <p:pic>
        <p:nvPicPr>
          <p:cNvPr id="21" name="Etapa 03 número" descr="0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6790" y="1856232"/>
            <a:ext cx="512064" cy="292608"/>
          </a:xfrm>
          <a:prstGeom prst="rect">
            <a:avLst/>
          </a:prstGeom>
        </p:spPr>
      </p:pic>
      <p:sp>
        <p:nvSpPr>
          <p:cNvPr id="22" name="Etapa 03 título"/>
          <p:cNvSpPr txBox="1"/>
          <p:nvPr/>
        </p:nvSpPr>
        <p:spPr>
          <a:xfrm>
            <a:off x="4906670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Digitação</a:t>
            </a:r>
            <a:endParaRPr lang="en-US" sz="1600" dirty="0"/>
          </a:p>
        </p:txBody>
      </p:sp>
      <p:sp>
        <p:nvSpPr>
          <p:cNvPr id="23" name="Etapa 03 descrição"/>
          <p:cNvSpPr txBox="1"/>
          <p:nvPr/>
        </p:nvSpPr>
        <p:spPr>
          <a:xfrm>
            <a:off x="4906670" y="279806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jogador digita a palavra-alvo letra a letra</a:t>
            </a:r>
            <a:endParaRPr lang="en-US" sz="1400" dirty="0"/>
          </a:p>
        </p:txBody>
      </p:sp>
      <p:pic>
        <p:nvPicPr>
          <p:cNvPr id="24" name="Seta 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2318" y="2468880"/>
            <a:ext cx="91440" cy="160020"/>
          </a:xfrm>
          <a:prstGeom prst="rect">
            <a:avLst/>
          </a:prstGeom>
        </p:spPr>
      </p:pic>
      <p:sp>
        <p:nvSpPr>
          <p:cNvPr id="25" name="Etapa 04"/>
          <p:cNvSpPr/>
          <p:nvPr/>
        </p:nvSpPr>
        <p:spPr>
          <a:xfrm>
            <a:off x="6857086" y="1554480"/>
            <a:ext cx="1828800" cy="2057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26" name="Etapa 04 bloco"/>
          <p:cNvSpPr/>
          <p:nvPr/>
        </p:nvSpPr>
        <p:spPr>
          <a:xfrm>
            <a:off x="7039966" y="1737360"/>
            <a:ext cx="548640" cy="54864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27" name="Etapa 04 ícone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1639" y="1869034"/>
            <a:ext cx="285293" cy="285293"/>
          </a:xfrm>
          <a:prstGeom prst="rect">
            <a:avLst/>
          </a:prstGeom>
        </p:spPr>
      </p:pic>
      <p:pic>
        <p:nvPicPr>
          <p:cNvPr id="28" name="Etapa 04 número" descr="04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0086" y="1856232"/>
            <a:ext cx="512064" cy="292608"/>
          </a:xfrm>
          <a:prstGeom prst="rect">
            <a:avLst/>
          </a:prstGeom>
        </p:spPr>
      </p:pic>
      <p:sp>
        <p:nvSpPr>
          <p:cNvPr id="29" name="Etapa 04 título"/>
          <p:cNvSpPr txBox="1"/>
          <p:nvPr/>
        </p:nvSpPr>
        <p:spPr>
          <a:xfrm>
            <a:off x="7039966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Destruída</a:t>
            </a:r>
            <a:endParaRPr lang="en-US" sz="1600" dirty="0"/>
          </a:p>
        </p:txBody>
      </p:sp>
      <p:sp>
        <p:nvSpPr>
          <p:cNvPr id="30" name="Etapa 04 descrição"/>
          <p:cNvSpPr txBox="1"/>
          <p:nvPr/>
        </p:nvSpPr>
        <p:spPr>
          <a:xfrm>
            <a:off x="7039966" y="279806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palavra explode e o jogador ganha pontos</a:t>
            </a:r>
            <a:endParaRPr lang="en-US" sz="1400" dirty="0"/>
          </a:p>
        </p:txBody>
      </p:sp>
      <p:sp>
        <p:nvSpPr>
          <p:cNvPr id="31" name="Dificuldade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32" name="Dificuldade bloco"/>
          <p:cNvSpPr/>
          <p:nvPr/>
        </p:nvSpPr>
        <p:spPr>
          <a:xfrm>
            <a:off x="621792" y="3986784"/>
            <a:ext cx="347472" cy="34747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33" name="Dificuldade ícone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185" y="4070177"/>
            <a:ext cx="180685" cy="180685"/>
          </a:xfrm>
          <a:prstGeom prst="rect">
            <a:avLst/>
          </a:prstGeom>
        </p:spPr>
      </p:pic>
      <p:sp>
        <p:nvSpPr>
          <p:cNvPr id="34" name="Dificuldade texto"/>
          <p:cNvSpPr txBox="1"/>
          <p:nvPr/>
        </p:nvSpPr>
        <p:spPr>
          <a:xfrm>
            <a:off x="118872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Dificuldade progressiva: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mais palavras, mais rápidas, conforme a partida avança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Inimigos e projéte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486400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Além das palavras, alguns inimigos atiram caracteres no jogador</a:t>
            </a:r>
            <a:endParaRPr lang="en-US" sz="1600" dirty="0"/>
          </a:p>
        </p:txBody>
      </p:sp>
      <p:sp>
        <p:nvSpPr>
          <p:cNvPr id="4" name="Mock da tela"/>
          <p:cNvSpPr/>
          <p:nvPr/>
        </p:nvSpPr>
        <p:spPr>
          <a:xfrm>
            <a:off x="457200" y="1508760"/>
            <a:ext cx="4023360" cy="297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5" name="Estrela 1"/>
          <p:cNvSpPr/>
          <p:nvPr/>
        </p:nvSpPr>
        <p:spPr>
          <a:xfrm>
            <a:off x="731520" y="1691640"/>
            <a:ext cx="54864" cy="5486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Estrela 2"/>
          <p:cNvSpPr/>
          <p:nvPr/>
        </p:nvSpPr>
        <p:spPr>
          <a:xfrm>
            <a:off x="4114800" y="2103120"/>
            <a:ext cx="54864" cy="5486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Estrela 3"/>
          <p:cNvSpPr/>
          <p:nvPr/>
        </p:nvSpPr>
        <p:spPr>
          <a:xfrm>
            <a:off x="1463040" y="4069080"/>
            <a:ext cx="54864" cy="5486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Estrela 4"/>
          <p:cNvSpPr/>
          <p:nvPr/>
        </p:nvSpPr>
        <p:spPr>
          <a:xfrm>
            <a:off x="3840480" y="3749040"/>
            <a:ext cx="54864" cy="5486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Estrela 5"/>
          <p:cNvSpPr/>
          <p:nvPr/>
        </p:nvSpPr>
        <p:spPr>
          <a:xfrm>
            <a:off x="2743200" y="1645920"/>
            <a:ext cx="54864" cy="5486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Estrela 6"/>
          <p:cNvSpPr/>
          <p:nvPr/>
        </p:nvSpPr>
        <p:spPr>
          <a:xfrm>
            <a:off x="822960" y="3566160"/>
            <a:ext cx="54864" cy="5486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Laser"/>
          <p:cNvSpPr/>
          <p:nvPr/>
        </p:nvSpPr>
        <p:spPr>
          <a:xfrm>
            <a:off x="2468880" y="2724912"/>
            <a:ext cx="0" cy="128016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2" name="Trajetória do projétil"/>
          <p:cNvSpPr/>
          <p:nvPr/>
        </p:nvSpPr>
        <p:spPr>
          <a:xfrm>
            <a:off x="1188720" y="2130552"/>
            <a:ext cx="1051560" cy="192024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ysDash"/>
          </a:ln>
        </p:spPr>
      </p:sp>
      <p:sp>
        <p:nvSpPr>
          <p:cNvPr id="13" name="Inimigo atirador"/>
          <p:cNvSpPr/>
          <p:nvPr/>
        </p:nvSpPr>
        <p:spPr>
          <a:xfrm>
            <a:off x="685800" y="1783080"/>
            <a:ext cx="1005840" cy="329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2700000">
              <a:srgbClr val="1D2B53">
                <a:alpha val="100000"/>
              </a:srgbClr>
            </a:outerShdw>
          </a:effectLst>
        </p:spPr>
      </p:sp>
      <p:sp>
        <p:nvSpPr>
          <p:cNvPr id="14" name="Inimigo atirador texto"/>
          <p:cNvSpPr txBox="1"/>
          <p:nvPr/>
        </p:nvSpPr>
        <p:spPr>
          <a:xfrm>
            <a:off x="685800" y="1783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canhão</a:t>
            </a:r>
            <a:endParaRPr lang="en-US" sz="1400" dirty="0"/>
          </a:p>
        </p:txBody>
      </p:sp>
      <p:sp>
        <p:nvSpPr>
          <p:cNvPr id="15" name="Palavra estrela"/>
          <p:cNvSpPr/>
          <p:nvPr/>
        </p:nvSpPr>
        <p:spPr>
          <a:xfrm>
            <a:off x="3154680" y="1874520"/>
            <a:ext cx="1097280" cy="329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2700000">
              <a:srgbClr val="1D2B53">
                <a:alpha val="100000"/>
              </a:srgbClr>
            </a:outerShdw>
          </a:effectLst>
        </p:spPr>
      </p:sp>
      <p:sp>
        <p:nvSpPr>
          <p:cNvPr id="16" name="Palavra estrela texto"/>
          <p:cNvSpPr txBox="1"/>
          <p:nvPr/>
        </p:nvSpPr>
        <p:spPr>
          <a:xfrm>
            <a:off x="3154680" y="18745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estrela</a:t>
            </a:r>
            <a:endParaRPr lang="en-US" sz="1400" dirty="0"/>
          </a:p>
        </p:txBody>
      </p:sp>
      <p:sp>
        <p:nvSpPr>
          <p:cNvPr id="17" name="Palavra alvo"/>
          <p:cNvSpPr/>
          <p:nvPr/>
        </p:nvSpPr>
        <p:spPr>
          <a:xfrm>
            <a:off x="1874520" y="2377440"/>
            <a:ext cx="1188720" cy="329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2700000">
              <a:srgbClr val="1D2B53">
                <a:alpha val="100000"/>
              </a:srgbClr>
            </a:outerShdw>
          </a:effectLst>
        </p:spPr>
      </p:sp>
      <p:sp>
        <p:nvSpPr>
          <p:cNvPr id="18" name="Palavra alvo texto"/>
          <p:cNvSpPr txBox="1"/>
          <p:nvPr/>
        </p:nvSpPr>
        <p:spPr>
          <a:xfrm>
            <a:off x="18745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endParaRPr lang="en-US" sz="1400" dirty="0"/>
          </a:p>
        </p:txBody>
      </p:sp>
      <p:sp>
        <p:nvSpPr>
          <p:cNvPr id="19" name="Palavra pixel"/>
          <p:cNvSpPr/>
          <p:nvPr/>
        </p:nvSpPr>
        <p:spPr>
          <a:xfrm>
            <a:off x="3291840" y="3017520"/>
            <a:ext cx="868680" cy="329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2700000">
              <a:srgbClr val="1D2B53">
                <a:alpha val="100000"/>
              </a:srgbClr>
            </a:outerShdw>
          </a:effectLst>
        </p:spPr>
      </p:sp>
      <p:sp>
        <p:nvSpPr>
          <p:cNvPr id="20" name="Palavra pixel texto"/>
          <p:cNvSpPr txBox="1"/>
          <p:nvPr/>
        </p:nvSpPr>
        <p:spPr>
          <a:xfrm>
            <a:off x="329184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</a:t>
            </a:r>
            <a:endParaRPr lang="en-US" sz="1400" dirty="0"/>
          </a:p>
        </p:txBody>
      </p:sp>
      <p:sp>
        <p:nvSpPr>
          <p:cNvPr id="21" name="Projétil k"/>
          <p:cNvSpPr/>
          <p:nvPr/>
        </p:nvSpPr>
        <p:spPr>
          <a:xfrm>
            <a:off x="1371600" y="2697480"/>
            <a:ext cx="310896" cy="29260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Projétil k texto"/>
          <p:cNvSpPr txBox="1"/>
          <p:nvPr/>
        </p:nvSpPr>
        <p:spPr>
          <a:xfrm>
            <a:off x="1371600" y="26974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400" dirty="0"/>
          </a:p>
        </p:txBody>
      </p:sp>
      <p:sp>
        <p:nvSpPr>
          <p:cNvPr id="23" name="Projétil ç~"/>
          <p:cNvSpPr/>
          <p:nvPr/>
        </p:nvSpPr>
        <p:spPr>
          <a:xfrm>
            <a:off x="1719072" y="3246120"/>
            <a:ext cx="457200" cy="29260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4" name="Projétil ç~ texto"/>
          <p:cNvSpPr txBox="1"/>
          <p:nvPr/>
        </p:nvSpPr>
        <p:spPr>
          <a:xfrm>
            <a:off x="1719072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ç~</a:t>
            </a:r>
            <a:endParaRPr lang="en-US" sz="1400" dirty="0"/>
          </a:p>
        </p:txBody>
      </p:sp>
      <p:pic>
        <p:nvPicPr>
          <p:cNvPr id="25" name="Jogador" descr="Jogador (macaco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3977640"/>
            <a:ext cx="585216" cy="409651"/>
          </a:xfrm>
          <a:prstGeom prst="rect">
            <a:avLst/>
          </a:prstGeom>
        </p:spPr>
      </p:pic>
      <p:sp>
        <p:nvSpPr>
          <p:cNvPr id="26" name="Palavras-inimigo bloco"/>
          <p:cNvSpPr/>
          <p:nvPr/>
        </p:nvSpPr>
        <p:spPr>
          <a:xfrm>
            <a:off x="4754880" y="1600200"/>
            <a:ext cx="502920" cy="50292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27" name="Palavras-inimig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941" y="1720901"/>
            <a:ext cx="186799" cy="261518"/>
          </a:xfrm>
          <a:prstGeom prst="rect">
            <a:avLst/>
          </a:prstGeom>
        </p:spPr>
      </p:pic>
      <p:sp>
        <p:nvSpPr>
          <p:cNvPr id="28" name="Palavras-inimigo título"/>
          <p:cNvSpPr txBox="1"/>
          <p:nvPr/>
        </p:nvSpPr>
        <p:spPr>
          <a:xfrm>
            <a:off x="5486400" y="1581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Palavras-inimigo</a:t>
            </a:r>
            <a:endParaRPr lang="en-US" sz="1600" dirty="0"/>
          </a:p>
        </p:txBody>
      </p:sp>
      <p:sp>
        <p:nvSpPr>
          <p:cNvPr id="29" name="Palavras-inimigo descrição"/>
          <p:cNvSpPr txBox="1"/>
          <p:nvPr/>
        </p:nvSpPr>
        <p:spPr>
          <a:xfrm>
            <a:off x="548640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Digite a palavra inteira antes que ela alcance o jogador</a:t>
            </a:r>
            <a:endParaRPr lang="en-US" sz="1400" dirty="0"/>
          </a:p>
        </p:txBody>
      </p:sp>
      <p:sp>
        <p:nvSpPr>
          <p:cNvPr id="30" name="Atiradores bloco"/>
          <p:cNvSpPr/>
          <p:nvPr/>
        </p:nvSpPr>
        <p:spPr>
          <a:xfrm>
            <a:off x="4754880" y="2606040"/>
            <a:ext cx="502920" cy="502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31" name="Atiradore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581" y="2726741"/>
            <a:ext cx="261518" cy="261518"/>
          </a:xfrm>
          <a:prstGeom prst="rect">
            <a:avLst/>
          </a:prstGeom>
        </p:spPr>
      </p:pic>
      <p:sp>
        <p:nvSpPr>
          <p:cNvPr id="32" name="Atiradores título"/>
          <p:cNvSpPr txBox="1"/>
          <p:nvPr/>
        </p:nvSpPr>
        <p:spPr>
          <a:xfrm>
            <a:off x="5486400" y="2587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Inimigos atiradores</a:t>
            </a:r>
            <a:endParaRPr lang="en-US" sz="1600" dirty="0"/>
          </a:p>
        </p:txBody>
      </p:sp>
      <p:sp>
        <p:nvSpPr>
          <p:cNvPr id="33" name="Atiradores descrição"/>
          <p:cNvSpPr txBox="1"/>
          <p:nvPr/>
        </p:nvSpPr>
        <p:spPr>
          <a:xfrm>
            <a:off x="548640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Disparam letras ou sequências; digite-as antes do impacto</a:t>
            </a:r>
            <a:endParaRPr lang="en-US" sz="1400" dirty="0"/>
          </a:p>
        </p:txBody>
      </p:sp>
      <p:sp>
        <p:nvSpPr>
          <p:cNvPr id="34" name="Dano bloco"/>
          <p:cNvSpPr/>
          <p:nvPr/>
        </p:nvSpPr>
        <p:spPr>
          <a:xfrm>
            <a:off x="4754880" y="3611880"/>
            <a:ext cx="502920" cy="50292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35" name="Dan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581" y="3747110"/>
            <a:ext cx="261518" cy="232461"/>
          </a:xfrm>
          <a:prstGeom prst="rect">
            <a:avLst/>
          </a:prstGeom>
        </p:spPr>
      </p:pic>
      <p:sp>
        <p:nvSpPr>
          <p:cNvPr id="36" name="Dano título"/>
          <p:cNvSpPr txBox="1"/>
          <p:nvPr/>
        </p:nvSpPr>
        <p:spPr>
          <a:xfrm>
            <a:off x="5486400" y="3593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Falhou?</a:t>
            </a:r>
            <a:endParaRPr lang="en-US" sz="1600" dirty="0"/>
          </a:p>
        </p:txBody>
      </p:sp>
      <p:sp>
        <p:nvSpPr>
          <p:cNvPr id="37" name="Dano descrição"/>
          <p:cNvSpPr txBox="1"/>
          <p:nvPr/>
        </p:nvSpPr>
        <p:spPr>
          <a:xfrm>
            <a:off x="548640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Palavra perdida ou projétil recebido causa dano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Bônus temporá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864608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Surgem aleatoriamente durante a partida e duram um tempo limitado</a:t>
            </a:r>
            <a:endParaRPr lang="en-US" sz="1600" dirty="0"/>
          </a:p>
        </p:txBody>
      </p:sp>
      <p:sp>
        <p:nvSpPr>
          <p:cNvPr id="4" name="Auto complete"/>
          <p:cNvSpPr/>
          <p:nvPr/>
        </p:nvSpPr>
        <p:spPr>
          <a:xfrm>
            <a:off x="457200" y="1508760"/>
            <a:ext cx="39776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5" name="Auto complete bloco"/>
          <p:cNvSpPr/>
          <p:nvPr/>
        </p:nvSpPr>
        <p:spPr>
          <a:xfrm>
            <a:off x="685800" y="1783080"/>
            <a:ext cx="777240" cy="77724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sp>
        <p:nvSpPr>
          <p:cNvPr id="6" name="Auto complete rótulo"/>
          <p:cNvSpPr txBox="1"/>
          <p:nvPr/>
        </p:nvSpPr>
        <p:spPr>
          <a:xfrm>
            <a:off x="6858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2000" dirty="0"/>
          </a:p>
        </p:txBody>
      </p:sp>
      <p:sp>
        <p:nvSpPr>
          <p:cNvPr id="7" name="Auto complete título"/>
          <p:cNvSpPr txBox="1"/>
          <p:nvPr/>
        </p:nvSpPr>
        <p:spPr>
          <a:xfrm>
            <a:off x="1691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 complete (TAB)</a:t>
            </a:r>
            <a:endParaRPr lang="en-US" sz="1600" dirty="0"/>
          </a:p>
        </p:txBody>
      </p:sp>
      <p:sp>
        <p:nvSpPr>
          <p:cNvPr id="8" name="Auto complete descrição"/>
          <p:cNvSpPr txBox="1"/>
          <p:nvPr/>
        </p:nvSpPr>
        <p:spPr>
          <a:xfrm>
            <a:off x="1691640" y="21122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Completa a palavra-alvo ao apertar TAB</a:t>
            </a:r>
            <a:endParaRPr lang="en-US" sz="1400" dirty="0"/>
          </a:p>
        </p:txBody>
      </p:sp>
      <p:sp>
        <p:nvSpPr>
          <p:cNvPr id="9" name="Escudo"/>
          <p:cNvSpPr/>
          <p:nvPr/>
        </p:nvSpPr>
        <p:spPr>
          <a:xfrm>
            <a:off x="4709160" y="1508760"/>
            <a:ext cx="39776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0" name="Escudo bloco"/>
          <p:cNvSpPr/>
          <p:nvPr/>
        </p:nvSpPr>
        <p:spPr>
          <a:xfrm>
            <a:off x="4937760" y="1783080"/>
            <a:ext cx="777240" cy="7772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11" name="Escud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298" y="1969618"/>
            <a:ext cx="404165" cy="404165"/>
          </a:xfrm>
          <a:prstGeom prst="rect">
            <a:avLst/>
          </a:prstGeom>
        </p:spPr>
      </p:pic>
      <p:sp>
        <p:nvSpPr>
          <p:cNvPr id="12" name="Escudo título"/>
          <p:cNvSpPr txBox="1"/>
          <p:nvPr/>
        </p:nvSpPr>
        <p:spPr>
          <a:xfrm>
            <a:off x="594360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Escudo</a:t>
            </a:r>
            <a:endParaRPr lang="en-US" sz="1600" dirty="0"/>
          </a:p>
        </p:txBody>
      </p:sp>
      <p:sp>
        <p:nvSpPr>
          <p:cNvPr id="13" name="Escudo descrição"/>
          <p:cNvSpPr txBox="1"/>
          <p:nvPr/>
        </p:nvSpPr>
        <p:spPr>
          <a:xfrm>
            <a:off x="5943600" y="21122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Imune a projéteis enquanto durar</a:t>
            </a:r>
            <a:endParaRPr lang="en-US" sz="1400" dirty="0"/>
          </a:p>
        </p:txBody>
      </p:sp>
      <p:sp>
        <p:nvSpPr>
          <p:cNvPr id="14" name="Sem acentos"/>
          <p:cNvSpPr/>
          <p:nvPr/>
        </p:nvSpPr>
        <p:spPr>
          <a:xfrm>
            <a:off x="457200" y="3108960"/>
            <a:ext cx="39776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5" name="Sem acentos bloco"/>
          <p:cNvSpPr/>
          <p:nvPr/>
        </p:nvSpPr>
        <p:spPr>
          <a:xfrm>
            <a:off x="685800" y="3383280"/>
            <a:ext cx="777240" cy="77724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sp>
        <p:nvSpPr>
          <p:cNvPr id="16" name="Sem acentos rótulo"/>
          <p:cNvSpPr txBox="1"/>
          <p:nvPr/>
        </p:nvSpPr>
        <p:spPr>
          <a:xfrm>
            <a:off x="68580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~Ç</a:t>
            </a:r>
            <a:endParaRPr lang="en-US" sz="2000" dirty="0"/>
          </a:p>
        </p:txBody>
      </p:sp>
      <p:sp>
        <p:nvSpPr>
          <p:cNvPr id="17" name="Sem acentos título"/>
          <p:cNvSpPr txBox="1"/>
          <p:nvPr/>
        </p:nvSpPr>
        <p:spPr>
          <a:xfrm>
            <a:off x="169164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acentos</a:t>
            </a:r>
            <a:endParaRPr lang="en-US" sz="1600" dirty="0"/>
          </a:p>
        </p:txBody>
      </p:sp>
      <p:sp>
        <p:nvSpPr>
          <p:cNvPr id="18" name="Sem acentos descrição"/>
          <p:cNvSpPr txBox="1"/>
          <p:nvPr/>
        </p:nvSpPr>
        <p:spPr>
          <a:xfrm>
            <a:off x="1691640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Dispensa ~ ç ^ ´ e outros sinais gráficos</a:t>
            </a:r>
            <a:endParaRPr lang="en-US" sz="1400" dirty="0"/>
          </a:p>
        </p:txBody>
      </p:sp>
      <p:sp>
        <p:nvSpPr>
          <p:cNvPr id="19" name="Bônus negativos"/>
          <p:cNvSpPr/>
          <p:nvPr/>
        </p:nvSpPr>
        <p:spPr>
          <a:xfrm>
            <a:off x="4709160" y="3108960"/>
            <a:ext cx="39776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20" name="Bônus negativos bloco"/>
          <p:cNvSpPr/>
          <p:nvPr/>
        </p:nvSpPr>
        <p:spPr>
          <a:xfrm>
            <a:off x="4937760" y="3383280"/>
            <a:ext cx="777240" cy="77724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21" name="Bônus negativ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298" y="3569818"/>
            <a:ext cx="404165" cy="404165"/>
          </a:xfrm>
          <a:prstGeom prst="rect">
            <a:avLst/>
          </a:prstGeom>
        </p:spPr>
      </p:pic>
      <p:sp>
        <p:nvSpPr>
          <p:cNvPr id="22" name="Bônus negativos título"/>
          <p:cNvSpPr txBox="1"/>
          <p:nvPr/>
        </p:nvSpPr>
        <p:spPr>
          <a:xfrm>
            <a:off x="594360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Bônus negativos</a:t>
            </a:r>
            <a:endParaRPr lang="en-US" sz="1600" dirty="0"/>
          </a:p>
        </p:txBody>
      </p:sp>
      <p:sp>
        <p:nvSpPr>
          <p:cNvPr id="23" name="Bônus negativos descrição"/>
          <p:cNvSpPr txBox="1"/>
          <p:nvPr/>
        </p:nvSpPr>
        <p:spPr>
          <a:xfrm>
            <a:off x="5943600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definir. Ex.: palavras embaralhadas, tela tremendo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Modos de j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94176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Dois modos: um com pressão, outro para jogar sem fim</a:t>
            </a:r>
            <a:endParaRPr lang="en-US" sz="1600" dirty="0"/>
          </a:p>
        </p:txBody>
      </p:sp>
      <p:sp>
        <p:nvSpPr>
          <p:cNvPr id="4" name="Sobrevivência"/>
          <p:cNvSpPr/>
          <p:nvPr/>
        </p:nvSpPr>
        <p:spPr>
          <a:xfrm>
            <a:off x="457200" y="1508760"/>
            <a:ext cx="3977640" cy="297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5" name="Sobrevivência bloco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6" name="Sobreviv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1826870"/>
            <a:ext cx="261518" cy="232461"/>
          </a:xfrm>
          <a:prstGeom prst="rect">
            <a:avLst/>
          </a:prstGeom>
        </p:spPr>
      </p:pic>
      <p:sp>
        <p:nvSpPr>
          <p:cNvPr id="7" name="Sobrevivência título"/>
          <p:cNvSpPr txBox="1"/>
          <p:nvPr/>
        </p:nvSpPr>
        <p:spPr>
          <a:xfrm>
            <a:off x="141732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Sobrevivência</a:t>
            </a:r>
            <a:endParaRPr lang="en-US" sz="2000" dirty="0"/>
          </a:p>
        </p:txBody>
      </p:sp>
      <p:pic>
        <p:nvPicPr>
          <p:cNvPr id="8" name="Vid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59152"/>
            <a:ext cx="274320" cy="244145"/>
          </a:xfrm>
          <a:prstGeom prst="rect">
            <a:avLst/>
          </a:prstGeom>
        </p:spPr>
      </p:pic>
      <p:pic>
        <p:nvPicPr>
          <p:cNvPr id="9" name="Vid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2359152"/>
            <a:ext cx="274320" cy="244145"/>
          </a:xfrm>
          <a:prstGeom prst="rect">
            <a:avLst/>
          </a:prstGeom>
        </p:spPr>
      </p:pic>
      <p:pic>
        <p:nvPicPr>
          <p:cNvPr id="10" name="Vida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2359152"/>
            <a:ext cx="274320" cy="244145"/>
          </a:xfrm>
          <a:prstGeom prst="rect">
            <a:avLst/>
          </a:prstGeom>
        </p:spPr>
      </p:pic>
      <p:pic>
        <p:nvPicPr>
          <p:cNvPr id="11" name="Vida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1932" y="2359152"/>
            <a:ext cx="274320" cy="244145"/>
          </a:xfrm>
          <a:prstGeom prst="rect">
            <a:avLst/>
          </a:prstGeom>
        </p:spPr>
      </p:pic>
      <p:pic>
        <p:nvPicPr>
          <p:cNvPr id="12" name="Vida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3976" y="2359152"/>
            <a:ext cx="274320" cy="244145"/>
          </a:xfrm>
          <a:prstGeom prst="rect">
            <a:avLst/>
          </a:prstGeom>
        </p:spPr>
      </p:pic>
      <p:pic>
        <p:nvPicPr>
          <p:cNvPr id="13" name="Vida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020" y="2359152"/>
            <a:ext cx="274320" cy="244145"/>
          </a:xfrm>
          <a:prstGeom prst="rect">
            <a:avLst/>
          </a:prstGeom>
        </p:spPr>
      </p:pic>
      <p:pic>
        <p:nvPicPr>
          <p:cNvPr id="14" name="Vida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2359152"/>
            <a:ext cx="274320" cy="244145"/>
          </a:xfrm>
          <a:prstGeom prst="rect">
            <a:avLst/>
          </a:prstGeom>
        </p:spPr>
      </p:pic>
      <p:pic>
        <p:nvPicPr>
          <p:cNvPr id="15" name="Vida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0108" y="2359152"/>
            <a:ext cx="274320" cy="244145"/>
          </a:xfrm>
          <a:prstGeom prst="rect">
            <a:avLst/>
          </a:prstGeom>
        </p:spPr>
      </p:pic>
      <p:pic>
        <p:nvPicPr>
          <p:cNvPr id="16" name="Vida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2152" y="2359152"/>
            <a:ext cx="274320" cy="244145"/>
          </a:xfrm>
          <a:prstGeom prst="rect">
            <a:avLst/>
          </a:prstGeom>
        </p:spPr>
      </p:pic>
      <p:pic>
        <p:nvPicPr>
          <p:cNvPr id="17" name="Vida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4196" y="2359152"/>
            <a:ext cx="274320" cy="244145"/>
          </a:xfrm>
          <a:prstGeom prst="rect">
            <a:avLst/>
          </a:prstGeom>
        </p:spPr>
      </p:pic>
      <p:sp>
        <p:nvSpPr>
          <p:cNvPr id="18" name="Sobrevivência regra"/>
          <p:cNvSpPr txBox="1"/>
          <p:nvPr/>
        </p:nvSpPr>
        <p:spPr>
          <a:xfrm>
            <a:off x="685800" y="2724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vida diminui quando:</a:t>
            </a:r>
            <a:endParaRPr lang="en-US" sz="1400" dirty="0"/>
          </a:p>
        </p:txBody>
      </p:sp>
      <p:sp>
        <p:nvSpPr>
          <p:cNvPr id="19" name="Sobrevivência lista"/>
          <p:cNvSpPr txBox="1"/>
          <p:nvPr/>
        </p:nvSpPr>
        <p:spPr>
          <a:xfrm>
            <a:off x="685800" y="299923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uma palavra passa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um projétil acerta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há erro de digitação</a:t>
            </a:r>
            <a:endParaRPr lang="en-US" sz="1400" dirty="0"/>
          </a:p>
        </p:txBody>
      </p:sp>
      <p:sp>
        <p:nvSpPr>
          <p:cNvPr id="20" name="Sobrevivência dificuldades"/>
          <p:cNvSpPr txBox="1"/>
          <p:nvPr/>
        </p:nvSpPr>
        <p:spPr>
          <a:xfrm>
            <a:off x="685800" y="37764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Dificuldades: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velocidade das palavras, projéteis e bônus ligados ou não</a:t>
            </a:r>
            <a:endParaRPr lang="en-US" sz="1400" dirty="0"/>
          </a:p>
        </p:txBody>
      </p:sp>
      <p:sp>
        <p:nvSpPr>
          <p:cNvPr id="21" name="Zen"/>
          <p:cNvSpPr/>
          <p:nvPr/>
        </p:nvSpPr>
        <p:spPr>
          <a:xfrm>
            <a:off x="4709160" y="1508760"/>
            <a:ext cx="3977640" cy="297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22" name="Zen bloco"/>
          <p:cNvSpPr/>
          <p:nvPr/>
        </p:nvSpPr>
        <p:spPr>
          <a:xfrm>
            <a:off x="4937760" y="1691640"/>
            <a:ext cx="502920" cy="50292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23" name="Zen ícone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8461" y="1870456"/>
            <a:ext cx="261518" cy="145288"/>
          </a:xfrm>
          <a:prstGeom prst="rect">
            <a:avLst/>
          </a:prstGeom>
        </p:spPr>
      </p:pic>
      <p:sp>
        <p:nvSpPr>
          <p:cNvPr id="24" name="Zen título"/>
          <p:cNvSpPr txBox="1"/>
          <p:nvPr/>
        </p:nvSpPr>
        <p:spPr>
          <a:xfrm>
            <a:off x="566928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Zen</a:t>
            </a:r>
            <a:endParaRPr lang="en-US" sz="2000" dirty="0"/>
          </a:p>
        </p:txBody>
      </p:sp>
      <p:sp>
        <p:nvSpPr>
          <p:cNvPr id="25" name="Zen descrição"/>
          <p:cNvSpPr txBox="1"/>
          <p:nvPr/>
        </p:nvSpPr>
        <p:spPr>
          <a:xfrm>
            <a:off x="4937760" y="2331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Modo infinito, sem limite de vida</a:t>
            </a:r>
            <a:endParaRPr lang="en-US" sz="1400" dirty="0"/>
          </a:p>
        </p:txBody>
      </p:sp>
      <p:sp>
        <p:nvSpPr>
          <p:cNvPr id="26" name="Zen mote"/>
          <p:cNvSpPr txBox="1"/>
          <p:nvPr/>
        </p:nvSpPr>
        <p:spPr>
          <a:xfrm>
            <a:off x="4937760" y="2651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macaco infinito: digite sempre</a:t>
            </a:r>
            <a:endParaRPr lang="en-US" sz="1200" dirty="0"/>
          </a:p>
        </p:txBody>
      </p:sp>
      <p:pic>
        <p:nvPicPr>
          <p:cNvPr id="27" name="Zen macaco" descr="Macaco em pixel art digitand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89320" y="3035808"/>
            <a:ext cx="1417320" cy="12984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Pontuação e métric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486400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Proposta inicial para discutir: a definir nesta semana</a:t>
            </a:r>
            <a:endParaRPr lang="en-US" sz="1600" dirty="0"/>
          </a:p>
        </p:txBody>
      </p:sp>
      <p:sp>
        <p:nvSpPr>
          <p:cNvPr id="4" name="Fórmula"/>
          <p:cNvSpPr/>
          <p:nvPr/>
        </p:nvSpPr>
        <p:spPr>
          <a:xfrm>
            <a:off x="457200" y="1508760"/>
            <a:ext cx="3291840" cy="297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5" name="Fórmula título"/>
          <p:cNvSpPr txBox="1"/>
          <p:nvPr/>
        </p:nvSpPr>
        <p:spPr>
          <a:xfrm>
            <a:off x="68580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Pontos por palavra</a:t>
            </a:r>
            <a:endParaRPr lang="en-US" sz="1600" dirty="0"/>
          </a:p>
        </p:txBody>
      </p:sp>
      <p:sp>
        <p:nvSpPr>
          <p:cNvPr id="6" name="Fórmula"/>
          <p:cNvSpPr txBox="1"/>
          <p:nvPr/>
        </p:nvSpPr>
        <p:spPr>
          <a:xfrm>
            <a:off x="68580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LETRAS × COMBO</a:t>
            </a:r>
            <a:endParaRPr lang="en-US" sz="2200" dirty="0"/>
          </a:p>
        </p:txBody>
      </p:sp>
      <p:sp>
        <p:nvSpPr>
          <p:cNvPr id="7" name="Fórmula exemplo"/>
          <p:cNvSpPr txBox="1"/>
          <p:nvPr/>
        </p:nvSpPr>
        <p:spPr>
          <a:xfrm>
            <a:off x="68580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teclado → 7 × x3 = 21</a:t>
            </a:r>
            <a:endParaRPr lang="en-US" sz="1400" dirty="0"/>
          </a:p>
        </p:txBody>
      </p:sp>
      <p:sp>
        <p:nvSpPr>
          <p:cNvPr id="8" name="Fórmula regra"/>
          <p:cNvSpPr txBox="1"/>
          <p:nvPr/>
        </p:nvSpPr>
        <p:spPr>
          <a:xfrm>
            <a:off x="685800" y="3291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erro de digitação zera o combo</a:t>
            </a:r>
            <a:endParaRPr lang="en-US" sz="1400" dirty="0"/>
          </a:p>
        </p:txBody>
      </p:sp>
      <p:sp>
        <p:nvSpPr>
          <p:cNvPr id="9" name="Métrica PPM"/>
          <p:cNvSpPr/>
          <p:nvPr/>
        </p:nvSpPr>
        <p:spPr>
          <a:xfrm>
            <a:off x="4023360" y="1508760"/>
            <a:ext cx="219456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pic>
        <p:nvPicPr>
          <p:cNvPr id="10" name="Métrica PPM valor" descr="6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640080" cy="365760"/>
          </a:xfrm>
          <a:prstGeom prst="rect">
            <a:avLst/>
          </a:prstGeom>
        </p:spPr>
      </p:pic>
      <p:sp>
        <p:nvSpPr>
          <p:cNvPr id="11" name="Métrica PPM rótulo"/>
          <p:cNvSpPr txBox="1"/>
          <p:nvPr/>
        </p:nvSpPr>
        <p:spPr>
          <a:xfrm>
            <a:off x="42062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PPM</a:t>
            </a:r>
            <a:endParaRPr lang="en-US" sz="1400" dirty="0"/>
          </a:p>
        </p:txBody>
      </p:sp>
      <p:sp>
        <p:nvSpPr>
          <p:cNvPr id="12" name="Métrica PPM descrição"/>
          <p:cNvSpPr txBox="1"/>
          <p:nvPr/>
        </p:nvSpPr>
        <p:spPr>
          <a:xfrm>
            <a:off x="420624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Palavras por minuto</a:t>
            </a:r>
            <a:endParaRPr lang="en-US" sz="1100" dirty="0"/>
          </a:p>
        </p:txBody>
      </p:sp>
      <p:sp>
        <p:nvSpPr>
          <p:cNvPr id="13" name="Métrica Precisão"/>
          <p:cNvSpPr/>
          <p:nvPr/>
        </p:nvSpPr>
        <p:spPr>
          <a:xfrm>
            <a:off x="6492240" y="1508760"/>
            <a:ext cx="219456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pic>
        <p:nvPicPr>
          <p:cNvPr id="14" name="Métrica Precisão valor" descr="97%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1640"/>
            <a:ext cx="960120" cy="365760"/>
          </a:xfrm>
          <a:prstGeom prst="rect">
            <a:avLst/>
          </a:prstGeom>
        </p:spPr>
      </p:pic>
      <p:sp>
        <p:nvSpPr>
          <p:cNvPr id="15" name="Métrica Precisão rótulo"/>
          <p:cNvSpPr txBox="1"/>
          <p:nvPr/>
        </p:nvSpPr>
        <p:spPr>
          <a:xfrm>
            <a:off x="667512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Precisão</a:t>
            </a:r>
            <a:endParaRPr lang="en-US" sz="1400" dirty="0"/>
          </a:p>
        </p:txBody>
      </p:sp>
      <p:sp>
        <p:nvSpPr>
          <p:cNvPr id="16" name="Métrica Precisão descrição"/>
          <p:cNvSpPr txBox="1"/>
          <p:nvPr/>
        </p:nvSpPr>
        <p:spPr>
          <a:xfrm>
            <a:off x="667512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Acertos ÷ teclas digitadas</a:t>
            </a:r>
            <a:endParaRPr lang="en-US" sz="1100" dirty="0"/>
          </a:p>
        </p:txBody>
      </p:sp>
      <p:sp>
        <p:nvSpPr>
          <p:cNvPr id="17" name="Métrica Combo máximo"/>
          <p:cNvSpPr/>
          <p:nvPr/>
        </p:nvSpPr>
        <p:spPr>
          <a:xfrm>
            <a:off x="4023360" y="3108960"/>
            <a:ext cx="219456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pic>
        <p:nvPicPr>
          <p:cNvPr id="18" name="Métrica Combo máximo valor" descr="X1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291840"/>
            <a:ext cx="960120" cy="365760"/>
          </a:xfrm>
          <a:prstGeom prst="rect">
            <a:avLst/>
          </a:prstGeom>
        </p:spPr>
      </p:pic>
      <p:sp>
        <p:nvSpPr>
          <p:cNvPr id="19" name="Métrica Combo máximo rótulo"/>
          <p:cNvSpPr txBox="1"/>
          <p:nvPr/>
        </p:nvSpPr>
        <p:spPr>
          <a:xfrm>
            <a:off x="42062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Combo máximo</a:t>
            </a:r>
            <a:endParaRPr lang="en-US" sz="1400" dirty="0"/>
          </a:p>
        </p:txBody>
      </p:sp>
      <p:sp>
        <p:nvSpPr>
          <p:cNvPr id="20" name="Métrica Combo máximo descrição"/>
          <p:cNvSpPr txBox="1"/>
          <p:nvPr/>
        </p:nvSpPr>
        <p:spPr>
          <a:xfrm>
            <a:off x="420624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Palavras seguidas sem erro</a:t>
            </a:r>
            <a:endParaRPr lang="en-US" sz="1100" dirty="0"/>
          </a:p>
        </p:txBody>
      </p:sp>
      <p:sp>
        <p:nvSpPr>
          <p:cNvPr id="21" name="Métrica Tempo"/>
          <p:cNvSpPr/>
          <p:nvPr/>
        </p:nvSpPr>
        <p:spPr>
          <a:xfrm>
            <a:off x="6492240" y="3108960"/>
            <a:ext cx="219456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pic>
        <p:nvPicPr>
          <p:cNvPr id="22" name="Métrica Tempo valor" descr="03:4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291840"/>
            <a:ext cx="1600200" cy="365760"/>
          </a:xfrm>
          <a:prstGeom prst="rect">
            <a:avLst/>
          </a:prstGeom>
        </p:spPr>
      </p:pic>
      <p:sp>
        <p:nvSpPr>
          <p:cNvPr id="23" name="Métrica Tempo rótulo"/>
          <p:cNvSpPr txBox="1"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Tempo</a:t>
            </a:r>
            <a:endParaRPr lang="en-US" sz="1400" dirty="0"/>
          </a:p>
        </p:txBody>
      </p:sp>
      <p:sp>
        <p:nvSpPr>
          <p:cNvPr id="24" name="Métrica Tempo descrição"/>
          <p:cNvSpPr txBox="1"/>
          <p:nvPr/>
        </p:nvSpPr>
        <p:spPr>
          <a:xfrm>
            <a:off x="667512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Tempo de sobrevivência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Seria leg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91840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Ideias para depois que o núcleo estiver jogável</a:t>
            </a:r>
            <a:endParaRPr lang="en-US" sz="1600" dirty="0"/>
          </a:p>
        </p:txBody>
      </p:sp>
      <p:sp>
        <p:nvSpPr>
          <p:cNvPr id="4" name="Textos personalizados bloco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5" name="Textos personalizado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720901"/>
            <a:ext cx="261518" cy="261518"/>
          </a:xfrm>
          <a:prstGeom prst="rect">
            <a:avLst/>
          </a:prstGeom>
        </p:spPr>
      </p:pic>
      <p:sp>
        <p:nvSpPr>
          <p:cNvPr id="6" name="Textos personalizados título"/>
          <p:cNvSpPr txBox="1"/>
          <p:nvPr/>
        </p:nvSpPr>
        <p:spPr>
          <a:xfrm>
            <a:off x="1188720" y="1581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Textos personalizados</a:t>
            </a:r>
            <a:endParaRPr lang="en-US" sz="1600" dirty="0"/>
          </a:p>
        </p:txBody>
      </p:sp>
      <p:sp>
        <p:nvSpPr>
          <p:cNvPr id="7" name="Textos personalizados descrição"/>
          <p:cNvSpPr txBox="1"/>
          <p:nvPr/>
        </p:nvSpPr>
        <p:spPr>
          <a:xfrm>
            <a:off x="1188720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Jogador usa o próprio texto na partida</a:t>
            </a:r>
            <a:endParaRPr lang="en-US" sz="1400" dirty="0"/>
          </a:p>
        </p:txBody>
      </p:sp>
      <p:sp>
        <p:nvSpPr>
          <p:cNvPr id="8" name="Som de teclas bloco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9" name="Som de tecla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726741"/>
            <a:ext cx="261518" cy="261518"/>
          </a:xfrm>
          <a:prstGeom prst="rect">
            <a:avLst/>
          </a:prstGeom>
        </p:spPr>
      </p:pic>
      <p:sp>
        <p:nvSpPr>
          <p:cNvPr id="10" name="Som de teclas título"/>
          <p:cNvSpPr txBox="1"/>
          <p:nvPr/>
        </p:nvSpPr>
        <p:spPr>
          <a:xfrm>
            <a:off x="1188720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Som de teclas satisfatório</a:t>
            </a:r>
            <a:endParaRPr lang="en-US" sz="1600" dirty="0"/>
          </a:p>
        </p:txBody>
      </p:sp>
      <p:sp>
        <p:nvSpPr>
          <p:cNvPr id="11" name="Som de teclas descrição"/>
          <p:cNvSpPr txBox="1"/>
          <p:nvPr/>
        </p:nvSpPr>
        <p:spPr>
          <a:xfrm>
            <a:off x="118872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Clique marcante a cada tecla certa</a:t>
            </a:r>
            <a:endParaRPr lang="en-US" sz="1400" dirty="0"/>
          </a:p>
        </p:txBody>
      </p:sp>
      <p:sp>
        <p:nvSpPr>
          <p:cNvPr id="12" name="Feedback visual bloco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pic>
        <p:nvPicPr>
          <p:cNvPr id="13" name="Feedback visual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732581"/>
            <a:ext cx="261518" cy="261518"/>
          </a:xfrm>
          <a:prstGeom prst="rect">
            <a:avLst/>
          </a:prstGeom>
        </p:spPr>
      </p:pic>
      <p:sp>
        <p:nvSpPr>
          <p:cNvPr id="14" name="Feedback visual título"/>
          <p:cNvSpPr txBox="1"/>
          <p:nvPr/>
        </p:nvSpPr>
        <p:spPr>
          <a:xfrm>
            <a:off x="118872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Feedback visual</a:t>
            </a:r>
            <a:endParaRPr lang="en-US" sz="1600" dirty="0"/>
          </a:p>
        </p:txBody>
      </p:sp>
      <p:sp>
        <p:nvSpPr>
          <p:cNvPr id="15" name="Feedback visual descrição"/>
          <p:cNvSpPr txBox="1"/>
          <p:nvPr/>
        </p:nvSpPr>
        <p:spPr>
          <a:xfrm>
            <a:off x="1188720" y="3886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Recompensa a cada letra e palavra destruída</a:t>
            </a:r>
            <a:endParaRPr lang="en-US" sz="1400" dirty="0"/>
          </a:p>
        </p:txBody>
      </p:sp>
      <p:sp>
        <p:nvSpPr>
          <p:cNvPr id="16" name="Pergunta em aberto"/>
          <p:cNvSpPr/>
          <p:nvPr/>
        </p:nvSpPr>
        <p:spPr>
          <a:xfrm>
            <a:off x="4846320" y="1508760"/>
            <a:ext cx="3840480" cy="2971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7" name="Pergunta bloco"/>
          <p:cNvSpPr/>
          <p:nvPr/>
        </p:nvSpPr>
        <p:spPr>
          <a:xfrm>
            <a:off x="5074920" y="1737360"/>
            <a:ext cx="548640" cy="54864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2B53">
                <a:alpha val="100000"/>
              </a:srgbClr>
            </a:outerShdw>
          </a:effectLst>
        </p:spPr>
      </p:sp>
      <p:sp>
        <p:nvSpPr>
          <p:cNvPr id="18" name="Pergunta rótulo"/>
          <p:cNvSpPr txBox="1"/>
          <p:nvPr/>
        </p:nvSpPr>
        <p:spPr>
          <a:xfrm>
            <a:off x="50749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400" dirty="0"/>
          </a:p>
        </p:txBody>
      </p:sp>
      <p:sp>
        <p:nvSpPr>
          <p:cNvPr id="19" name="Pergunta título"/>
          <p:cNvSpPr txBox="1"/>
          <p:nvPr/>
        </p:nvSpPr>
        <p:spPr>
          <a:xfrm>
            <a:off x="5852160" y="1737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EM ABERTO</a:t>
            </a:r>
            <a:endParaRPr lang="en-US" sz="1400" dirty="0"/>
          </a:p>
        </p:txBody>
      </p:sp>
      <p:sp>
        <p:nvSpPr>
          <p:cNvPr id="20" name="Pergunta texto"/>
          <p:cNvSpPr txBox="1"/>
          <p:nvPr/>
        </p:nvSpPr>
        <p:spPr>
          <a:xfrm>
            <a:off x="5074920" y="2514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ZType a nave atira a cada letra digitada. Como seria no nosso caso?</a:t>
            </a:r>
            <a:endParaRPr lang="en-US" sz="1800" dirty="0"/>
          </a:p>
        </p:txBody>
      </p:sp>
      <p:sp>
        <p:nvSpPr>
          <p:cNvPr id="21" name="Pergunta sugestões"/>
          <p:cNvSpPr txBox="1"/>
          <p:nvPr/>
        </p:nvSpPr>
        <p:spPr>
          <a:xfrm>
            <a:off x="507492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Pontos de partida: partículas por letra, tremor de tela, letras se desfazendo</a:t>
            </a:r>
            <a:endParaRPr lang="en-US" sz="1200" dirty="0"/>
          </a:p>
        </p:txBody>
      </p:sp>
      <p:pic>
        <p:nvPicPr>
          <p:cNvPr id="22" name="Seta de diálog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4160520"/>
            <a:ext cx="182880" cy="1042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ítulo" descr="Stack e próximos pas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6108192" cy="4754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que precisa estar decidido ao fim da semana 1</a:t>
            </a:r>
            <a:endParaRPr lang="en-US" sz="1600" dirty="0"/>
          </a:p>
        </p:txBody>
      </p:sp>
      <p:sp>
        <p:nvSpPr>
          <p:cNvPr id="4" name="Stack"/>
          <p:cNvSpPr/>
          <p:nvPr/>
        </p:nvSpPr>
        <p:spPr>
          <a:xfrm>
            <a:off x="457200" y="1508760"/>
            <a:ext cx="3977640" cy="297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5" name="Stack título"/>
          <p:cNvSpPr txBox="1"/>
          <p:nvPr/>
        </p:nvSpPr>
        <p:spPr>
          <a:xfrm>
            <a:off x="685800" y="1691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Stack candidata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 · a decidir</a:t>
            </a:r>
            <a:endParaRPr lang="en-US" sz="1600" dirty="0"/>
          </a:p>
        </p:txBody>
      </p:sp>
      <p:sp>
        <p:nvSpPr>
          <p:cNvPr id="6" name="Stack Render rótulo"/>
          <p:cNvSpPr txBox="1"/>
          <p:nvPr/>
        </p:nvSpPr>
        <p:spPr>
          <a:xfrm>
            <a:off x="68580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300" dirty="0"/>
          </a:p>
        </p:txBody>
      </p:sp>
      <p:sp>
        <p:nvSpPr>
          <p:cNvPr id="7" name="Stack Render valor"/>
          <p:cNvSpPr txBox="1"/>
          <p:nvPr/>
        </p:nvSpPr>
        <p:spPr>
          <a:xfrm>
            <a:off x="164592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Canvas, Phaser ou PixiJS</a:t>
            </a:r>
            <a:endParaRPr lang="en-US" sz="1400" dirty="0"/>
          </a:p>
        </p:txBody>
      </p:sp>
      <p:sp>
        <p:nvSpPr>
          <p:cNvPr id="8" name="Stack Código rótulo"/>
          <p:cNvSpPr txBox="1"/>
          <p:nvPr/>
        </p:nvSpPr>
        <p:spPr>
          <a:xfrm>
            <a:off x="68580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</a:t>
            </a:r>
            <a:endParaRPr lang="en-US" sz="1300" dirty="0"/>
          </a:p>
        </p:txBody>
      </p:sp>
      <p:sp>
        <p:nvSpPr>
          <p:cNvPr id="9" name="Stack Código valor"/>
          <p:cNvSpPr txBox="1"/>
          <p:nvPr/>
        </p:nvSpPr>
        <p:spPr>
          <a:xfrm>
            <a:off x="1645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TypeScript + Vite</a:t>
            </a:r>
            <a:endParaRPr lang="en-US" sz="1400" dirty="0"/>
          </a:p>
        </p:txBody>
      </p:sp>
      <p:sp>
        <p:nvSpPr>
          <p:cNvPr id="10" name="Stack Áudio rótulo"/>
          <p:cNvSpPr txBox="1"/>
          <p:nvPr/>
        </p:nvSpPr>
        <p:spPr>
          <a:xfrm>
            <a:off x="68580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ÁUDIO</a:t>
            </a:r>
            <a:endParaRPr lang="en-US" sz="1300" dirty="0"/>
          </a:p>
        </p:txBody>
      </p:sp>
      <p:sp>
        <p:nvSpPr>
          <p:cNvPr id="11" name="Stack Áudio valor"/>
          <p:cNvSpPr txBox="1"/>
          <p:nvPr/>
        </p:nvSpPr>
        <p:spPr>
          <a:xfrm>
            <a:off x="164592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Audio API ou Howler.js</a:t>
            </a:r>
            <a:endParaRPr lang="en-US" sz="1400" dirty="0"/>
          </a:p>
        </p:txBody>
      </p:sp>
      <p:sp>
        <p:nvSpPr>
          <p:cNvPr id="12" name="Stack Deploy rótulo"/>
          <p:cNvSpPr txBox="1"/>
          <p:nvPr/>
        </p:nvSpPr>
        <p:spPr>
          <a:xfrm>
            <a:off x="68580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300" dirty="0"/>
          </a:p>
        </p:txBody>
      </p:sp>
      <p:sp>
        <p:nvSpPr>
          <p:cNvPr id="13" name="Stack Deploy valor"/>
          <p:cNvSpPr txBox="1"/>
          <p:nvPr/>
        </p:nvSpPr>
        <p:spPr>
          <a:xfrm>
            <a:off x="1645920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Pages ou Netlify</a:t>
            </a:r>
            <a:endParaRPr lang="en-US" sz="1400" dirty="0"/>
          </a:p>
        </p:txBody>
      </p:sp>
      <p:sp>
        <p:nvSpPr>
          <p:cNvPr id="14" name="Checklist"/>
          <p:cNvSpPr/>
          <p:nvPr/>
        </p:nvSpPr>
        <p:spPr>
          <a:xfrm>
            <a:off x="4709160" y="1508760"/>
            <a:ext cx="3977640" cy="297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50800" dir="2700000">
              <a:srgbClr val="1D2B53">
                <a:alpha val="100000"/>
              </a:srgbClr>
            </a:outerShdw>
          </a:effectLst>
        </p:spPr>
      </p:sp>
      <p:sp>
        <p:nvSpPr>
          <p:cNvPr id="15" name="Checklist título"/>
          <p:cNvSpPr txBox="1"/>
          <p:nvPr/>
        </p:nvSpPr>
        <p:spPr>
          <a:xfrm>
            <a:off x="4937760" y="1691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Checklist da semana 1</a:t>
            </a:r>
            <a:endParaRPr lang="en-US" sz="1600" dirty="0"/>
          </a:p>
        </p:txBody>
      </p:sp>
      <p:sp>
        <p:nvSpPr>
          <p:cNvPr id="16" name="Checkbox 1"/>
          <p:cNvSpPr/>
          <p:nvPr/>
        </p:nvSpPr>
        <p:spPr>
          <a:xfrm>
            <a:off x="4937760" y="2258568"/>
            <a:ext cx="219456" cy="2194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Checklist item 1"/>
          <p:cNvSpPr txBox="1"/>
          <p:nvPr/>
        </p:nvSpPr>
        <p:spPr>
          <a:xfrm>
            <a:off x="5349240" y="2194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Características e objetivos</a:t>
            </a:r>
            <a:endParaRPr lang="en-US" sz="1400" dirty="0"/>
          </a:p>
        </p:txBody>
      </p:sp>
      <p:sp>
        <p:nvSpPr>
          <p:cNvPr id="18" name="Checkbox 2"/>
          <p:cNvSpPr/>
          <p:nvPr/>
        </p:nvSpPr>
        <p:spPr>
          <a:xfrm>
            <a:off x="4937760" y="2688336"/>
            <a:ext cx="219456" cy="2194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Checklist item 2"/>
          <p:cNvSpPr txBox="1"/>
          <p:nvPr/>
        </p:nvSpPr>
        <p:spPr>
          <a:xfrm>
            <a:off x="5349240" y="26243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Regras básicas</a:t>
            </a:r>
            <a:endParaRPr lang="en-US" sz="1400" dirty="0"/>
          </a:p>
        </p:txBody>
      </p:sp>
      <p:sp>
        <p:nvSpPr>
          <p:cNvPr id="20" name="Checkbox 3"/>
          <p:cNvSpPr/>
          <p:nvPr/>
        </p:nvSpPr>
        <p:spPr>
          <a:xfrm>
            <a:off x="4937760" y="3118104"/>
            <a:ext cx="219456" cy="2194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Checklist item 3"/>
          <p:cNvSpPr txBox="1"/>
          <p:nvPr/>
        </p:nvSpPr>
        <p:spPr>
          <a:xfrm>
            <a:off x="5349240" y="30540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Sistema de pontuação</a:t>
            </a:r>
            <a:endParaRPr lang="en-US" sz="1400" dirty="0"/>
          </a:p>
        </p:txBody>
      </p:sp>
      <p:sp>
        <p:nvSpPr>
          <p:cNvPr id="22" name="Checkbox 4"/>
          <p:cNvSpPr/>
          <p:nvPr/>
        </p:nvSpPr>
        <p:spPr>
          <a:xfrm>
            <a:off x="4937760" y="3547872"/>
            <a:ext cx="219456" cy="2194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3" name="Checklist item 4"/>
          <p:cNvSpPr txBox="1"/>
          <p:nvPr/>
        </p:nvSpPr>
        <p:spPr>
          <a:xfrm>
            <a:off x="5349240" y="3483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Métricas de desempenho</a:t>
            </a:r>
            <a:endParaRPr lang="en-US" sz="1400" dirty="0"/>
          </a:p>
        </p:txBody>
      </p:sp>
      <p:sp>
        <p:nvSpPr>
          <p:cNvPr id="24" name="Checkbox 5"/>
          <p:cNvSpPr/>
          <p:nvPr/>
        </p:nvSpPr>
        <p:spPr>
          <a:xfrm>
            <a:off x="4937760" y="3977640"/>
            <a:ext cx="219456" cy="2194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Checklist item 5"/>
          <p:cNvSpPr txBox="1"/>
          <p:nvPr/>
        </p:nvSpPr>
        <p:spPr>
          <a:xfrm>
            <a:off x="5349240" y="39136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Tecnologias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TecTec 8-bit">
  <a:themeElements>
    <a:clrScheme name="TecTecTec 8-bit">
      <a:dk1>
        <a:srgbClr val="1D2B53"/>
      </a:dk1>
      <a:lt1>
        <a:srgbClr val="FFFFFF"/>
      </a:lt1>
      <a:dk2>
        <a:srgbClr val="5F574F"/>
      </a:dk2>
      <a:lt2>
        <a:srgbClr val="EAF2FB"/>
      </a:lt2>
      <a:accent1>
        <a:srgbClr val="FF004D"/>
      </a:accent1>
      <a:accent2>
        <a:srgbClr val="29ADFF"/>
      </a:accent2>
      <a:accent3>
        <a:srgbClr val="FFEC27"/>
      </a:accent3>
      <a:accent4>
        <a:srgbClr val="00B543"/>
      </a:accent4>
      <a:accent5>
        <a:srgbClr val="AB5236"/>
      </a:accent5>
      <a:accent6>
        <a:srgbClr val="FFA300"/>
      </a:accent6>
      <a:hlink>
        <a:srgbClr val="29ADFF"/>
      </a:hlink>
      <a:folHlink>
        <a:srgbClr val="7E2553"/>
      </a:folHlink>
    </a:clrScheme>
    <a:fontScheme name="TecTecTec 8-bit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TecTecTec — Semana 1</dc:title>
  <dc:subject>PptxGenJS Presentation</dc:subject>
  <dc:creator>Equipe TecTecTec</dc:creator>
  <cp:lastModifiedBy>Equipe TecTecTec</cp:lastModifiedBy>
  <cp:revision>1</cp:revision>
  <dcterms:created xsi:type="dcterms:W3CDTF">2026-10-09T19:21:44Z</dcterms:created>
  <dcterms:modified xsi:type="dcterms:W3CDTF">2026-10-09T19:21:44Z</dcterms:modified>
</cp:coreProperties>
</file>